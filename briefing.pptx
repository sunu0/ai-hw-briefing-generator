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/>
            </a:pPr>
            <a:r>
              <a:t>AI+HW Co-Evolution: A Multi-Layered Vision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808080"/>
                </a:solidFill>
              </a:defRPr>
            </a:pPr>
            <a:r>
              <a:t>基于论文：AI+HV2035: Shaping the Next Decade (arXiv:2603.05225)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200400"/>
            <a:ext cx="94484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/>
            </a:pPr>
            <a:r>
              <a:t>🎯 核心目标：</a:t>
            </a:r>
          </a:p>
          <a:p>
            <a:pPr algn="ctr">
              <a:defRPr sz="1800" b="0"/>
            </a:pPr>
            <a:r>
              <a:t>通过硬件创新和更高效的AI模型，在AI训练和推理效率上实现千倍提升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6217920"/>
            <a:ext cx="103628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808080"/>
                </a:solidFill>
              </a:defRPr>
            </a:pPr>
            <a:r>
              <a:t>AI+硬件协同设计愿景 | 自动化简报生成器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/>
            </a:pPr>
            <a:r>
              <a:t>三大协同设计层级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371600" y="1371600"/>
          <a:ext cx="9448495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6248095"/>
              </a:tblGrid>
              <a:tr h="1028700">
                <a:tc>
                  <a:txBody>
                    <a:bodyPr/>
                    <a:lstStyle/>
                    <a:p>
                      <a:r>
                        <a:t>抽象层级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关键特征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Hardware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需要激进创新，包括内存中心架构、3D单片集成、存内计算和模拟AI加速器，以及光电互连、AI优化拓扑；同时强调AI驱动的电子设计自动化。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Algorithm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AI必须具有硬件感知能力，硬件变得AI自适应；通过AI-in-the-loop设计自动化、硬件感知训练（低精度、稀疏性等）以及可微分模拟器、神经架构搜索、强化学习调优等方法实现自演进。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Application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AI系统必须服务于人类和地球需求，同时保持计算可持续性；应用涵盖生产力、医疗、材料、教育、交通、经济、国家安全等领域，需应对计算需求和能源消耗的挑战。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/>
            </a:pPr>
            <a:r>
              <a:t>技术发展时间轴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41148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70C0"/>
                </a:solidFill>
              </a:defRPr>
            </a:pPr>
            <a:r>
              <a:t>📌 近期（2-5年）</a:t>
            </a:r>
          </a:p>
          <a:p>
            <a:pPr>
              <a:spcAft>
                <a:spcPts val="800"/>
              </a:spcAft>
              <a:defRPr sz="1600"/>
            </a:pPr>
            <a:r>
              <a:t>  • 内存中心架构</a:t>
            </a:r>
          </a:p>
          <a:p>
            <a:pPr>
              <a:spcAft>
                <a:spcPts val="800"/>
              </a:spcAft>
              <a:defRPr sz="1600"/>
            </a:pPr>
            <a:r>
              <a:t>  • 3D集成</a:t>
            </a:r>
          </a:p>
          <a:p>
            <a:pPr>
              <a:spcAft>
                <a:spcPts val="800"/>
              </a:spcAft>
              <a:defRPr sz="1600"/>
            </a:pPr>
            <a:r>
              <a:t>  • 存内计算</a:t>
            </a:r>
          </a:p>
          <a:p>
            <a:pPr>
              <a:spcAft>
                <a:spcPts val="800"/>
              </a:spcAft>
              <a:defRPr sz="1600"/>
            </a:pPr>
            <a:r>
              <a:t>  • AI驱动的EDA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0" y="1828800"/>
            <a:ext cx="36576" cy="3200400"/>
          </a:xfrm>
          <a:prstGeom prst="rect">
            <a:avLst/>
          </a:prstGeom>
          <a:solidFill>
            <a:srgbClr val="C8C8C8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0" y="1645920"/>
            <a:ext cx="41148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ED7D31"/>
                </a:solidFill>
              </a:defRPr>
            </a:pPr>
            <a:r>
              <a:t>🚀 远期（6-10年）</a:t>
            </a:r>
          </a:p>
          <a:p>
            <a:pPr>
              <a:spcAft>
                <a:spcPts val="800"/>
              </a:spcAft>
              <a:defRPr sz="1600"/>
            </a:pPr>
            <a:r>
              <a:t>  • 光子/光电子互连</a:t>
            </a:r>
          </a:p>
          <a:p>
            <a:pPr>
              <a:spcAft>
                <a:spcPts val="800"/>
              </a:spcAft>
              <a:defRPr sz="1600"/>
            </a:pPr>
            <a:r>
              <a:t>  • 量子-经典混合系统</a:t>
            </a:r>
          </a:p>
          <a:p>
            <a:pPr>
              <a:spcAft>
                <a:spcPts val="800"/>
              </a:spcAft>
              <a:defRPr sz="1600"/>
            </a:pPr>
            <a:r>
              <a:t>  • 自演进计算栈</a:t>
            </a:r>
          </a:p>
          <a:p>
            <a:pPr>
              <a:spcAft>
                <a:spcPts val="800"/>
              </a:spcAft>
              <a:defRPr sz="1600"/>
            </a:pPr>
            <a:r>
              <a:t>  • 物理感知学习（如JEPA）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5669280"/>
            <a:ext cx="10728655" cy="36576"/>
          </a:xfrm>
          <a:prstGeom prst="rect">
            <a:avLst/>
          </a:prstGeom>
          <a:solidFill>
            <a:srgbClr val="C8C8C8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5486400"/>
            <a:ext cx="274320" cy="274320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155680" y="5486400"/>
            <a:ext cx="274320" cy="274320"/>
          </a:xfrm>
          <a:prstGeom prst="rect">
            <a:avLst/>
          </a:prstGeom>
          <a:solidFill>
            <a:srgbClr val="ED7D31"/>
          </a:solidFill>
          <a:ln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